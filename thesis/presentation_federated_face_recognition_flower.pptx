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9753600" cy="7315200"/>
  <p:notesSz cx="6858000" cy="9144000"/>
  <p:embeddedFontLst>
    <p:embeddedFont>
      <p:font typeface="Times New Roman MT" charset="1" panose="02030502070405020303"/>
      <p:regular r:id="rId16"/>
    </p:embeddedFont>
    <p:embeddedFont>
      <p:font typeface="Times New Roman MT Bold" charset="1" panose="02030802070405020303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6885120"/>
            <a:ext cx="9753600" cy="428544"/>
            <a:chOff x="0" y="0"/>
            <a:chExt cx="13004800" cy="571392"/>
          </a:xfrm>
        </p:grpSpPr>
        <p:sp>
          <p:nvSpPr>
            <p:cNvPr name="Freeform 3" id="3" descr="BANDA ROSSA 2 OPT BOLOGNA RAST"/>
            <p:cNvSpPr/>
            <p:nvPr/>
          </p:nvSpPr>
          <p:spPr>
            <a:xfrm flipH="false" flipV="false" rot="0">
              <a:off x="0" y="0"/>
              <a:ext cx="13004800" cy="571373"/>
            </a:xfrm>
            <a:custGeom>
              <a:avLst/>
              <a:gdLst/>
              <a:ahLst/>
              <a:cxnLst/>
              <a:rect r="r" b="b" t="t" l="l"/>
              <a:pathLst>
                <a:path h="571373" w="13004800">
                  <a:moveTo>
                    <a:pt x="0" y="0"/>
                  </a:moveTo>
                  <a:lnTo>
                    <a:pt x="13004800" y="0"/>
                  </a:lnTo>
                  <a:lnTo>
                    <a:pt x="13004800" y="571373"/>
                  </a:lnTo>
                  <a:lnTo>
                    <a:pt x="0" y="5713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75" r="0" b="-178"/>
              </a:stretch>
            </a:blip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76032" y="110208"/>
            <a:ext cx="902784" cy="1159680"/>
            <a:chOff x="0" y="0"/>
            <a:chExt cx="1203712" cy="1546240"/>
          </a:xfrm>
        </p:grpSpPr>
        <p:sp>
          <p:nvSpPr>
            <p:cNvPr name="Freeform 5" id="5" descr="Alma-Mater TAGLIATO"/>
            <p:cNvSpPr/>
            <p:nvPr/>
          </p:nvSpPr>
          <p:spPr>
            <a:xfrm flipH="false" flipV="false" rot="0">
              <a:off x="0" y="0"/>
              <a:ext cx="1203706" cy="1546225"/>
            </a:xfrm>
            <a:custGeom>
              <a:avLst/>
              <a:gdLst/>
              <a:ahLst/>
              <a:cxnLst/>
              <a:rect r="r" b="b" t="t" l="l"/>
              <a:pathLst>
                <a:path h="1546225" w="1203706">
                  <a:moveTo>
                    <a:pt x="0" y="0"/>
                  </a:moveTo>
                  <a:lnTo>
                    <a:pt x="1203706" y="0"/>
                  </a:lnTo>
                  <a:lnTo>
                    <a:pt x="1203706" y="1546225"/>
                  </a:lnTo>
                  <a:lnTo>
                    <a:pt x="0" y="15462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9" t="0" r="-1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-3456" y="-91392"/>
            <a:ext cx="184704" cy="1446144"/>
            <a:chOff x="0" y="0"/>
            <a:chExt cx="246272" cy="192819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121666"/>
              <a:ext cx="246253" cy="1684909"/>
            </a:xfrm>
            <a:custGeom>
              <a:avLst/>
              <a:gdLst/>
              <a:ahLst/>
              <a:cxnLst/>
              <a:rect r="r" b="b" t="t" l="l"/>
              <a:pathLst>
                <a:path h="1684909" w="246253">
                  <a:moveTo>
                    <a:pt x="243713" y="0"/>
                  </a:moveTo>
                  <a:lnTo>
                    <a:pt x="246253" y="1684528"/>
                  </a:lnTo>
                  <a:lnTo>
                    <a:pt x="2540" y="1684909"/>
                  </a:lnTo>
                  <a:lnTo>
                    <a:pt x="0" y="381"/>
                  </a:lnTo>
                  <a:close/>
                </a:path>
              </a:pathLst>
            </a:custGeom>
            <a:solidFill>
              <a:srgbClr val="CC0000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-10176" y="1251264"/>
            <a:ext cx="8837376" cy="22272"/>
            <a:chOff x="0" y="0"/>
            <a:chExt cx="11783168" cy="296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3589" y="0"/>
              <a:ext cx="11756009" cy="29718"/>
            </a:xfrm>
            <a:custGeom>
              <a:avLst/>
              <a:gdLst/>
              <a:ahLst/>
              <a:cxnLst/>
              <a:rect r="r" b="b" t="t" l="l"/>
              <a:pathLst>
                <a:path h="29718" w="11756009">
                  <a:moveTo>
                    <a:pt x="0" y="0"/>
                  </a:moveTo>
                  <a:lnTo>
                    <a:pt x="11756009" y="2540"/>
                  </a:lnTo>
                  <a:lnTo>
                    <a:pt x="11756009" y="29718"/>
                  </a:lnTo>
                  <a:lnTo>
                    <a:pt x="0" y="27178"/>
                  </a:lnTo>
                  <a:close/>
                </a:path>
              </a:pathLst>
            </a:custGeom>
            <a:solidFill>
              <a:srgbClr val="5F5F5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851200" y="6832512"/>
            <a:ext cx="40704" cy="416640"/>
            <a:chOff x="0" y="0"/>
            <a:chExt cx="54272" cy="5555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27178"/>
              <a:ext cx="54229" cy="501269"/>
            </a:xfrm>
            <a:custGeom>
              <a:avLst/>
              <a:gdLst/>
              <a:ahLst/>
              <a:cxnLst/>
              <a:rect r="r" b="b" t="t" l="l"/>
              <a:pathLst>
                <a:path h="501269" w="54229">
                  <a:moveTo>
                    <a:pt x="54229" y="0"/>
                  </a:moveTo>
                  <a:lnTo>
                    <a:pt x="54229" y="501269"/>
                  </a:lnTo>
                  <a:lnTo>
                    <a:pt x="0" y="5012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851200" y="6478848"/>
            <a:ext cx="40704" cy="425088"/>
            <a:chOff x="0" y="0"/>
            <a:chExt cx="54272" cy="56678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27178"/>
              <a:ext cx="54229" cy="512445"/>
            </a:xfrm>
            <a:custGeom>
              <a:avLst/>
              <a:gdLst/>
              <a:ahLst/>
              <a:cxnLst/>
              <a:rect r="r" b="b" t="t" l="l"/>
              <a:pathLst>
                <a:path h="512445" w="54229">
                  <a:moveTo>
                    <a:pt x="54229" y="0"/>
                  </a:moveTo>
                  <a:lnTo>
                    <a:pt x="54229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5F5F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731520" y="2017268"/>
            <a:ext cx="8290560" cy="2020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79"/>
              </a:lnSpc>
              <a:spcBef>
                <a:spcPct val="0"/>
              </a:spcBef>
            </a:pPr>
            <a:r>
              <a:rPr lang="en-US" sz="36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Machine Lea</a:t>
            </a:r>
            <a:r>
              <a:rPr lang="en-US" sz="36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rning su Dispositivi Edge: Riconoscimento Facciale tramite Framework Flower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760247" y="241738"/>
            <a:ext cx="5066953" cy="810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079"/>
              </a:lnSpc>
            </a:pPr>
            <a:r>
              <a:rPr lang="en-US" sz="21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Università di Bologna</a:t>
            </a:r>
          </a:p>
          <a:p>
            <a:pPr algn="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Corso di Laurea in Ingegneria Informatica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31520" y="4837939"/>
            <a:ext cx="3028727" cy="810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79"/>
              </a:lnSpc>
            </a:pPr>
            <a:r>
              <a:rPr lang="en-US" sz="21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Relatore</a:t>
            </a:r>
          </a:p>
          <a:p>
            <a:pPr algn="just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Prof. Paolo Bellavista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798473" y="4837939"/>
            <a:ext cx="3028727" cy="810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079"/>
              </a:lnSpc>
            </a:pPr>
            <a:r>
              <a:rPr lang="en-US" sz="21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Candidato</a:t>
            </a:r>
          </a:p>
          <a:p>
            <a:pPr algn="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Matteo Lombardi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6885120"/>
            <a:ext cx="9753600" cy="428544"/>
            <a:chOff x="0" y="0"/>
            <a:chExt cx="13004800" cy="571392"/>
          </a:xfrm>
        </p:grpSpPr>
        <p:sp>
          <p:nvSpPr>
            <p:cNvPr name="Freeform 3" id="3" descr="BANDA ROSSA 2 OPT BOLOGNA RAST"/>
            <p:cNvSpPr/>
            <p:nvPr/>
          </p:nvSpPr>
          <p:spPr>
            <a:xfrm flipH="false" flipV="false" rot="0">
              <a:off x="0" y="0"/>
              <a:ext cx="13004800" cy="571373"/>
            </a:xfrm>
            <a:custGeom>
              <a:avLst/>
              <a:gdLst/>
              <a:ahLst/>
              <a:cxnLst/>
              <a:rect r="r" b="b" t="t" l="l"/>
              <a:pathLst>
                <a:path h="571373" w="13004800">
                  <a:moveTo>
                    <a:pt x="0" y="0"/>
                  </a:moveTo>
                  <a:lnTo>
                    <a:pt x="13004800" y="0"/>
                  </a:lnTo>
                  <a:lnTo>
                    <a:pt x="13004800" y="571373"/>
                  </a:lnTo>
                  <a:lnTo>
                    <a:pt x="0" y="5713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75" r="0" b="-178"/>
              </a:stretch>
            </a:blip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76032" y="110208"/>
            <a:ext cx="902784" cy="1159680"/>
            <a:chOff x="0" y="0"/>
            <a:chExt cx="1203712" cy="1546240"/>
          </a:xfrm>
        </p:grpSpPr>
        <p:sp>
          <p:nvSpPr>
            <p:cNvPr name="Freeform 5" id="5" descr="Alma-Mater TAGLIATO"/>
            <p:cNvSpPr/>
            <p:nvPr/>
          </p:nvSpPr>
          <p:spPr>
            <a:xfrm flipH="false" flipV="false" rot="0">
              <a:off x="0" y="0"/>
              <a:ext cx="1203706" cy="1546225"/>
            </a:xfrm>
            <a:custGeom>
              <a:avLst/>
              <a:gdLst/>
              <a:ahLst/>
              <a:cxnLst/>
              <a:rect r="r" b="b" t="t" l="l"/>
              <a:pathLst>
                <a:path h="1546225" w="1203706">
                  <a:moveTo>
                    <a:pt x="0" y="0"/>
                  </a:moveTo>
                  <a:lnTo>
                    <a:pt x="1203706" y="0"/>
                  </a:lnTo>
                  <a:lnTo>
                    <a:pt x="1203706" y="1546225"/>
                  </a:lnTo>
                  <a:lnTo>
                    <a:pt x="0" y="15462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9" t="0" r="-1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-3456" y="-91392"/>
            <a:ext cx="184704" cy="1446144"/>
            <a:chOff x="0" y="0"/>
            <a:chExt cx="246272" cy="192819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121666"/>
              <a:ext cx="246253" cy="1684909"/>
            </a:xfrm>
            <a:custGeom>
              <a:avLst/>
              <a:gdLst/>
              <a:ahLst/>
              <a:cxnLst/>
              <a:rect r="r" b="b" t="t" l="l"/>
              <a:pathLst>
                <a:path h="1684909" w="246253">
                  <a:moveTo>
                    <a:pt x="243713" y="0"/>
                  </a:moveTo>
                  <a:lnTo>
                    <a:pt x="246253" y="1684528"/>
                  </a:lnTo>
                  <a:lnTo>
                    <a:pt x="2540" y="1684909"/>
                  </a:lnTo>
                  <a:lnTo>
                    <a:pt x="0" y="381"/>
                  </a:lnTo>
                  <a:close/>
                </a:path>
              </a:pathLst>
            </a:custGeom>
            <a:solidFill>
              <a:srgbClr val="CC0000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-10176" y="1251264"/>
            <a:ext cx="8837376" cy="22272"/>
            <a:chOff x="0" y="0"/>
            <a:chExt cx="11783168" cy="296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3589" y="0"/>
              <a:ext cx="11756009" cy="29718"/>
            </a:xfrm>
            <a:custGeom>
              <a:avLst/>
              <a:gdLst/>
              <a:ahLst/>
              <a:cxnLst/>
              <a:rect r="r" b="b" t="t" l="l"/>
              <a:pathLst>
                <a:path h="29718" w="11756009">
                  <a:moveTo>
                    <a:pt x="0" y="0"/>
                  </a:moveTo>
                  <a:lnTo>
                    <a:pt x="11756009" y="2540"/>
                  </a:lnTo>
                  <a:lnTo>
                    <a:pt x="11756009" y="29718"/>
                  </a:lnTo>
                  <a:lnTo>
                    <a:pt x="0" y="27178"/>
                  </a:lnTo>
                  <a:close/>
                </a:path>
              </a:pathLst>
            </a:custGeom>
            <a:solidFill>
              <a:srgbClr val="5F5F5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851200" y="6832512"/>
            <a:ext cx="40704" cy="416640"/>
            <a:chOff x="0" y="0"/>
            <a:chExt cx="54272" cy="5555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27178"/>
              <a:ext cx="54229" cy="501269"/>
            </a:xfrm>
            <a:custGeom>
              <a:avLst/>
              <a:gdLst/>
              <a:ahLst/>
              <a:cxnLst/>
              <a:rect r="r" b="b" t="t" l="l"/>
              <a:pathLst>
                <a:path h="501269" w="54229">
                  <a:moveTo>
                    <a:pt x="54229" y="0"/>
                  </a:moveTo>
                  <a:lnTo>
                    <a:pt x="54229" y="501269"/>
                  </a:lnTo>
                  <a:lnTo>
                    <a:pt x="0" y="5012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851200" y="6478848"/>
            <a:ext cx="40704" cy="425088"/>
            <a:chOff x="0" y="0"/>
            <a:chExt cx="54272" cy="56678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27178"/>
              <a:ext cx="54229" cy="512445"/>
            </a:xfrm>
            <a:custGeom>
              <a:avLst/>
              <a:gdLst/>
              <a:ahLst/>
              <a:cxnLst/>
              <a:rect r="r" b="b" t="t" l="l"/>
              <a:pathLst>
                <a:path h="512445" w="54229">
                  <a:moveTo>
                    <a:pt x="54229" y="0"/>
                  </a:moveTo>
                  <a:lnTo>
                    <a:pt x="54229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5F5F"/>
            </a:solid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861696" y="4887595"/>
            <a:ext cx="8030208" cy="1254720"/>
          </a:xfrm>
          <a:custGeom>
            <a:avLst/>
            <a:gdLst/>
            <a:ahLst/>
            <a:cxnLst/>
            <a:rect r="r" b="b" t="t" l="l"/>
            <a:pathLst>
              <a:path h="1254720" w="8030208">
                <a:moveTo>
                  <a:pt x="0" y="0"/>
                </a:moveTo>
                <a:lnTo>
                  <a:pt x="8030208" y="0"/>
                </a:lnTo>
                <a:lnTo>
                  <a:pt x="8030208" y="1254720"/>
                </a:lnTo>
                <a:lnTo>
                  <a:pt x="0" y="12547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538522" y="218751"/>
            <a:ext cx="4676557" cy="914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47"/>
              </a:lnSpc>
            </a:pPr>
            <a:r>
              <a:rPr lang="en-US" sz="30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Machine Learning e Riconoscimento Facciale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65103" y="1891972"/>
            <a:ext cx="8290560" cy="1591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Machine Learning</a:t>
            </a:r>
            <a:r>
              <a:rPr lang="en-US" sz="21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: campo dell’intelligenza artificiale che consente ai sistemi di apprendere autonomamente a svolgere un compito e a migliorare con l’esperienza, senza essere programmati esplicitamente per farlo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55578" y="3762375"/>
            <a:ext cx="8290560" cy="1201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 b="true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Riconoscimento facciale</a:t>
            </a:r>
            <a:r>
              <a:rPr lang="en-US" sz="21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: identificazione o verifica dell’identità di una persona a partire dall’immagine o dal video del suo volto</a:t>
            </a:r>
          </a:p>
          <a:p>
            <a:pPr algn="l">
              <a:lnSpc>
                <a:spcPts val="3079"/>
              </a:lnSpc>
              <a:spcBef>
                <a:spcPct val="0"/>
              </a:spcBef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9263440" y="6986643"/>
            <a:ext cx="88925" cy="230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12"/>
              </a:lnSpc>
              <a:spcBef>
                <a:spcPct val="0"/>
              </a:spcBef>
            </a:pPr>
            <a:r>
              <a:rPr lang="en-US" sz="14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1</a:t>
            </a:r>
          </a:p>
        </p:txBody>
      </p: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6885120"/>
            <a:ext cx="9753600" cy="428544"/>
            <a:chOff x="0" y="0"/>
            <a:chExt cx="13004800" cy="571392"/>
          </a:xfrm>
        </p:grpSpPr>
        <p:sp>
          <p:nvSpPr>
            <p:cNvPr name="Freeform 3" id="3" descr="BANDA ROSSA 2 OPT BOLOGNA RAST"/>
            <p:cNvSpPr/>
            <p:nvPr/>
          </p:nvSpPr>
          <p:spPr>
            <a:xfrm flipH="false" flipV="false" rot="0">
              <a:off x="0" y="0"/>
              <a:ext cx="13004800" cy="571373"/>
            </a:xfrm>
            <a:custGeom>
              <a:avLst/>
              <a:gdLst/>
              <a:ahLst/>
              <a:cxnLst/>
              <a:rect r="r" b="b" t="t" l="l"/>
              <a:pathLst>
                <a:path h="571373" w="13004800">
                  <a:moveTo>
                    <a:pt x="0" y="0"/>
                  </a:moveTo>
                  <a:lnTo>
                    <a:pt x="13004800" y="0"/>
                  </a:lnTo>
                  <a:lnTo>
                    <a:pt x="13004800" y="571373"/>
                  </a:lnTo>
                  <a:lnTo>
                    <a:pt x="0" y="5713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75" r="0" b="-178"/>
              </a:stretch>
            </a:blip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76032" y="110208"/>
            <a:ext cx="902784" cy="1159680"/>
            <a:chOff x="0" y="0"/>
            <a:chExt cx="1203712" cy="1546240"/>
          </a:xfrm>
        </p:grpSpPr>
        <p:sp>
          <p:nvSpPr>
            <p:cNvPr name="Freeform 5" id="5" descr="Alma-Mater TAGLIATO"/>
            <p:cNvSpPr/>
            <p:nvPr/>
          </p:nvSpPr>
          <p:spPr>
            <a:xfrm flipH="false" flipV="false" rot="0">
              <a:off x="0" y="0"/>
              <a:ext cx="1203706" cy="1546225"/>
            </a:xfrm>
            <a:custGeom>
              <a:avLst/>
              <a:gdLst/>
              <a:ahLst/>
              <a:cxnLst/>
              <a:rect r="r" b="b" t="t" l="l"/>
              <a:pathLst>
                <a:path h="1546225" w="1203706">
                  <a:moveTo>
                    <a:pt x="0" y="0"/>
                  </a:moveTo>
                  <a:lnTo>
                    <a:pt x="1203706" y="0"/>
                  </a:lnTo>
                  <a:lnTo>
                    <a:pt x="1203706" y="1546225"/>
                  </a:lnTo>
                  <a:lnTo>
                    <a:pt x="0" y="15462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9" t="0" r="-1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-3456" y="-91392"/>
            <a:ext cx="184704" cy="1446144"/>
            <a:chOff x="0" y="0"/>
            <a:chExt cx="246272" cy="192819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121666"/>
              <a:ext cx="246253" cy="1684909"/>
            </a:xfrm>
            <a:custGeom>
              <a:avLst/>
              <a:gdLst/>
              <a:ahLst/>
              <a:cxnLst/>
              <a:rect r="r" b="b" t="t" l="l"/>
              <a:pathLst>
                <a:path h="1684909" w="246253">
                  <a:moveTo>
                    <a:pt x="243713" y="0"/>
                  </a:moveTo>
                  <a:lnTo>
                    <a:pt x="246253" y="1684528"/>
                  </a:lnTo>
                  <a:lnTo>
                    <a:pt x="2540" y="1684909"/>
                  </a:lnTo>
                  <a:lnTo>
                    <a:pt x="0" y="381"/>
                  </a:lnTo>
                  <a:close/>
                </a:path>
              </a:pathLst>
            </a:custGeom>
            <a:solidFill>
              <a:srgbClr val="CC0000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-10176" y="1251264"/>
            <a:ext cx="8837376" cy="22272"/>
            <a:chOff x="0" y="0"/>
            <a:chExt cx="11783168" cy="296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3589" y="0"/>
              <a:ext cx="11756009" cy="29718"/>
            </a:xfrm>
            <a:custGeom>
              <a:avLst/>
              <a:gdLst/>
              <a:ahLst/>
              <a:cxnLst/>
              <a:rect r="r" b="b" t="t" l="l"/>
              <a:pathLst>
                <a:path h="29718" w="11756009">
                  <a:moveTo>
                    <a:pt x="0" y="0"/>
                  </a:moveTo>
                  <a:lnTo>
                    <a:pt x="11756009" y="2540"/>
                  </a:lnTo>
                  <a:lnTo>
                    <a:pt x="11756009" y="29718"/>
                  </a:lnTo>
                  <a:lnTo>
                    <a:pt x="0" y="27178"/>
                  </a:lnTo>
                  <a:close/>
                </a:path>
              </a:pathLst>
            </a:custGeom>
            <a:solidFill>
              <a:srgbClr val="5F5F5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851200" y="6832512"/>
            <a:ext cx="40704" cy="416640"/>
            <a:chOff x="0" y="0"/>
            <a:chExt cx="54272" cy="5555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27178"/>
              <a:ext cx="54229" cy="501269"/>
            </a:xfrm>
            <a:custGeom>
              <a:avLst/>
              <a:gdLst/>
              <a:ahLst/>
              <a:cxnLst/>
              <a:rect r="r" b="b" t="t" l="l"/>
              <a:pathLst>
                <a:path h="501269" w="54229">
                  <a:moveTo>
                    <a:pt x="54229" y="0"/>
                  </a:moveTo>
                  <a:lnTo>
                    <a:pt x="54229" y="501269"/>
                  </a:lnTo>
                  <a:lnTo>
                    <a:pt x="0" y="5012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851200" y="6478848"/>
            <a:ext cx="40704" cy="425088"/>
            <a:chOff x="0" y="0"/>
            <a:chExt cx="54272" cy="56678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27178"/>
              <a:ext cx="54229" cy="512445"/>
            </a:xfrm>
            <a:custGeom>
              <a:avLst/>
              <a:gdLst/>
              <a:ahLst/>
              <a:cxnLst/>
              <a:rect r="r" b="b" t="t" l="l"/>
              <a:pathLst>
                <a:path h="512445" w="54229">
                  <a:moveTo>
                    <a:pt x="54229" y="0"/>
                  </a:moveTo>
                  <a:lnTo>
                    <a:pt x="54229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5F5F"/>
            </a:solidFill>
          </p:spPr>
        </p:sp>
      </p:grpSp>
      <p:sp>
        <p:nvSpPr>
          <p:cNvPr name="AutoShape 14" id="14"/>
          <p:cNvSpPr/>
          <p:nvPr/>
        </p:nvSpPr>
        <p:spPr>
          <a:xfrm>
            <a:off x="4886325" y="3212665"/>
            <a:ext cx="0" cy="444935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15" id="15"/>
          <p:cNvSpPr txBox="true"/>
          <p:nvPr/>
        </p:nvSpPr>
        <p:spPr>
          <a:xfrm rot="0">
            <a:off x="2538522" y="409251"/>
            <a:ext cx="4676557" cy="494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47"/>
              </a:lnSpc>
            </a:pPr>
            <a:r>
              <a:rPr lang="en-US" sz="30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Edge Computing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013979" y="1698024"/>
            <a:ext cx="5830332" cy="420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Svantaggi machine learning su architetture cloud: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013979" y="2145245"/>
            <a:ext cx="4511697" cy="810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Alta latenza</a:t>
            </a:r>
          </a:p>
          <a:p>
            <a:pPr algn="l" marL="474979" indent="-237490" lvl="1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Problemi di privacy e sicurezza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862132" y="3829050"/>
            <a:ext cx="2048387" cy="420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Edge Computing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26400" y="4277995"/>
            <a:ext cx="7900800" cy="198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</a:t>
            </a:r>
            <a:r>
              <a:rPr lang="en-US" sz="21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l calcolo e l’analisi dei dati vengono spostati ai margini della rete</a:t>
            </a:r>
          </a:p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Vantaggi:</a:t>
            </a:r>
          </a:p>
          <a:p>
            <a:pPr algn="l" marL="474979" indent="-237490" lvl="1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Riduzione della latenza</a:t>
            </a:r>
          </a:p>
          <a:p>
            <a:pPr algn="l" marL="474979" indent="-237490" lvl="1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Ottimizzazione della banda di rete</a:t>
            </a:r>
          </a:p>
          <a:p>
            <a:pPr algn="l" marL="474979" indent="-237490" lvl="1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Sicurezza e privacy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263440" y="6986643"/>
            <a:ext cx="88925" cy="230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12"/>
              </a:lnSpc>
              <a:spcBef>
                <a:spcPct val="0"/>
              </a:spcBef>
            </a:pPr>
            <a:r>
              <a:rPr lang="en-US" sz="14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2</a:t>
            </a:r>
          </a:p>
        </p:txBody>
      </p: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6885120"/>
            <a:ext cx="9753600" cy="428544"/>
            <a:chOff x="0" y="0"/>
            <a:chExt cx="13004800" cy="571392"/>
          </a:xfrm>
        </p:grpSpPr>
        <p:sp>
          <p:nvSpPr>
            <p:cNvPr name="Freeform 3" id="3" descr="BANDA ROSSA 2 OPT BOLOGNA RAST"/>
            <p:cNvSpPr/>
            <p:nvPr/>
          </p:nvSpPr>
          <p:spPr>
            <a:xfrm flipH="false" flipV="false" rot="0">
              <a:off x="0" y="0"/>
              <a:ext cx="13004800" cy="571373"/>
            </a:xfrm>
            <a:custGeom>
              <a:avLst/>
              <a:gdLst/>
              <a:ahLst/>
              <a:cxnLst/>
              <a:rect r="r" b="b" t="t" l="l"/>
              <a:pathLst>
                <a:path h="571373" w="13004800">
                  <a:moveTo>
                    <a:pt x="0" y="0"/>
                  </a:moveTo>
                  <a:lnTo>
                    <a:pt x="13004800" y="0"/>
                  </a:lnTo>
                  <a:lnTo>
                    <a:pt x="13004800" y="571373"/>
                  </a:lnTo>
                  <a:lnTo>
                    <a:pt x="0" y="5713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75" r="0" b="-178"/>
              </a:stretch>
            </a:blip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76032" y="110208"/>
            <a:ext cx="902784" cy="1159680"/>
            <a:chOff x="0" y="0"/>
            <a:chExt cx="1203712" cy="1546240"/>
          </a:xfrm>
        </p:grpSpPr>
        <p:sp>
          <p:nvSpPr>
            <p:cNvPr name="Freeform 5" id="5" descr="Alma-Mater TAGLIATO"/>
            <p:cNvSpPr/>
            <p:nvPr/>
          </p:nvSpPr>
          <p:spPr>
            <a:xfrm flipH="false" flipV="false" rot="0">
              <a:off x="0" y="0"/>
              <a:ext cx="1203706" cy="1546225"/>
            </a:xfrm>
            <a:custGeom>
              <a:avLst/>
              <a:gdLst/>
              <a:ahLst/>
              <a:cxnLst/>
              <a:rect r="r" b="b" t="t" l="l"/>
              <a:pathLst>
                <a:path h="1546225" w="1203706">
                  <a:moveTo>
                    <a:pt x="0" y="0"/>
                  </a:moveTo>
                  <a:lnTo>
                    <a:pt x="1203706" y="0"/>
                  </a:lnTo>
                  <a:lnTo>
                    <a:pt x="1203706" y="1546225"/>
                  </a:lnTo>
                  <a:lnTo>
                    <a:pt x="0" y="15462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9" t="0" r="-1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-3456" y="-91392"/>
            <a:ext cx="184704" cy="1446144"/>
            <a:chOff x="0" y="0"/>
            <a:chExt cx="246272" cy="192819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121666"/>
              <a:ext cx="246253" cy="1684909"/>
            </a:xfrm>
            <a:custGeom>
              <a:avLst/>
              <a:gdLst/>
              <a:ahLst/>
              <a:cxnLst/>
              <a:rect r="r" b="b" t="t" l="l"/>
              <a:pathLst>
                <a:path h="1684909" w="246253">
                  <a:moveTo>
                    <a:pt x="243713" y="0"/>
                  </a:moveTo>
                  <a:lnTo>
                    <a:pt x="246253" y="1684528"/>
                  </a:lnTo>
                  <a:lnTo>
                    <a:pt x="2540" y="1684909"/>
                  </a:lnTo>
                  <a:lnTo>
                    <a:pt x="0" y="381"/>
                  </a:lnTo>
                  <a:close/>
                </a:path>
              </a:pathLst>
            </a:custGeom>
            <a:solidFill>
              <a:srgbClr val="CC0000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-10176" y="1251264"/>
            <a:ext cx="8837376" cy="22272"/>
            <a:chOff x="0" y="0"/>
            <a:chExt cx="11783168" cy="296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3589" y="0"/>
              <a:ext cx="11756009" cy="29718"/>
            </a:xfrm>
            <a:custGeom>
              <a:avLst/>
              <a:gdLst/>
              <a:ahLst/>
              <a:cxnLst/>
              <a:rect r="r" b="b" t="t" l="l"/>
              <a:pathLst>
                <a:path h="29718" w="11756009">
                  <a:moveTo>
                    <a:pt x="0" y="0"/>
                  </a:moveTo>
                  <a:lnTo>
                    <a:pt x="11756009" y="2540"/>
                  </a:lnTo>
                  <a:lnTo>
                    <a:pt x="11756009" y="29718"/>
                  </a:lnTo>
                  <a:lnTo>
                    <a:pt x="0" y="27178"/>
                  </a:lnTo>
                  <a:close/>
                </a:path>
              </a:pathLst>
            </a:custGeom>
            <a:solidFill>
              <a:srgbClr val="5F5F5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851200" y="6832512"/>
            <a:ext cx="40704" cy="416640"/>
            <a:chOff x="0" y="0"/>
            <a:chExt cx="54272" cy="5555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27178"/>
              <a:ext cx="54229" cy="501269"/>
            </a:xfrm>
            <a:custGeom>
              <a:avLst/>
              <a:gdLst/>
              <a:ahLst/>
              <a:cxnLst/>
              <a:rect r="r" b="b" t="t" l="l"/>
              <a:pathLst>
                <a:path h="501269" w="54229">
                  <a:moveTo>
                    <a:pt x="54229" y="0"/>
                  </a:moveTo>
                  <a:lnTo>
                    <a:pt x="54229" y="501269"/>
                  </a:lnTo>
                  <a:lnTo>
                    <a:pt x="0" y="5012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851200" y="6478848"/>
            <a:ext cx="40704" cy="425088"/>
            <a:chOff x="0" y="0"/>
            <a:chExt cx="54272" cy="56678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27178"/>
              <a:ext cx="54229" cy="512445"/>
            </a:xfrm>
            <a:custGeom>
              <a:avLst/>
              <a:gdLst/>
              <a:ahLst/>
              <a:cxnLst/>
              <a:rect r="r" b="b" t="t" l="l"/>
              <a:pathLst>
                <a:path h="512445" w="54229">
                  <a:moveTo>
                    <a:pt x="54229" y="0"/>
                  </a:moveTo>
                  <a:lnTo>
                    <a:pt x="54229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5F5F"/>
            </a:solid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2880276" y="5742511"/>
            <a:ext cx="470848" cy="470848"/>
          </a:xfrm>
          <a:custGeom>
            <a:avLst/>
            <a:gdLst/>
            <a:ahLst/>
            <a:cxnLst/>
            <a:rect r="r" b="b" t="t" l="l"/>
            <a:pathLst>
              <a:path h="470848" w="470848">
                <a:moveTo>
                  <a:pt x="0" y="0"/>
                </a:moveTo>
                <a:lnTo>
                  <a:pt x="470848" y="0"/>
                </a:lnTo>
                <a:lnTo>
                  <a:pt x="470848" y="470848"/>
                </a:lnTo>
                <a:lnTo>
                  <a:pt x="0" y="47084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538522" y="409251"/>
            <a:ext cx="4676557" cy="494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47"/>
              </a:lnSpc>
            </a:pPr>
            <a:r>
              <a:rPr lang="en-US" sz="30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Federated Learning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31520" y="1750122"/>
            <a:ext cx="8290560" cy="1201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Appr</a:t>
            </a:r>
            <a:r>
              <a:rPr lang="en-US" sz="21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occio di </a:t>
            </a:r>
            <a:r>
              <a:rPr lang="en-US" b="true" sz="2199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edge learning</a:t>
            </a:r>
            <a:r>
              <a:rPr lang="en-US" sz="21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distribuito che consente di addestrare un modello su più dispositivi locali in maniera collaborativa, evitando l’invio dei dati al server centrale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31520" y="3417141"/>
            <a:ext cx="8290560" cy="198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 b="true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Ciclo di federated learning</a:t>
            </a:r>
            <a:r>
              <a:rPr lang="en-US" sz="21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:</a:t>
            </a:r>
          </a:p>
          <a:p>
            <a:pPr algn="l" marL="474979" indent="-237490" lvl="1">
              <a:lnSpc>
                <a:spcPts val="3079"/>
              </a:lnSpc>
              <a:buAutoNum type="arabicPeriod" startAt="1"/>
            </a:pPr>
            <a:r>
              <a:rPr lang="en-US" sz="21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Inizializzazione del modello globale e invio dei parametri ai client</a:t>
            </a:r>
          </a:p>
          <a:p>
            <a:pPr algn="l" marL="474979" indent="-237490" lvl="1">
              <a:lnSpc>
                <a:spcPts val="3079"/>
              </a:lnSpc>
              <a:buAutoNum type="arabicPeriod" startAt="1"/>
            </a:pPr>
            <a:r>
              <a:rPr lang="en-US" sz="21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Addestramento locale dei modelli</a:t>
            </a:r>
          </a:p>
          <a:p>
            <a:pPr algn="l" marL="474979" indent="-237490" lvl="1">
              <a:lnSpc>
                <a:spcPts val="3079"/>
              </a:lnSpc>
              <a:buAutoNum type="arabicPeriod" startAt="1"/>
            </a:pPr>
            <a:r>
              <a:rPr lang="en-US" sz="21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Invio dei parametri aggiornati al server</a:t>
            </a:r>
          </a:p>
          <a:p>
            <a:pPr algn="l" marL="474979" indent="-237490" lvl="1">
              <a:lnSpc>
                <a:spcPts val="3079"/>
              </a:lnSpc>
              <a:spcBef>
                <a:spcPct val="0"/>
              </a:spcBef>
              <a:buAutoNum type="arabicPeriod" startAt="1"/>
            </a:pPr>
            <a:r>
              <a:rPr lang="en-US" sz="21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Aggiornamento del modello globale (aggregazione)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474645" y="5762987"/>
            <a:ext cx="3579486" cy="420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Ripetuto fino a convoluzione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263440" y="6986643"/>
            <a:ext cx="88925" cy="230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12"/>
              </a:lnSpc>
              <a:spcBef>
                <a:spcPct val="0"/>
              </a:spcBef>
            </a:pPr>
            <a:r>
              <a:rPr lang="en-US" sz="14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3</a:t>
            </a:r>
          </a:p>
        </p:txBody>
      </p:sp>
    </p:spTree>
  </p:cSld>
  <p:clrMapOvr>
    <a:masterClrMapping/>
  </p:clrMapOvr>
  <p:transition spd="fast">
    <p:fad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6885120"/>
            <a:ext cx="9753600" cy="428544"/>
            <a:chOff x="0" y="0"/>
            <a:chExt cx="13004800" cy="571392"/>
          </a:xfrm>
        </p:grpSpPr>
        <p:sp>
          <p:nvSpPr>
            <p:cNvPr name="Freeform 3" id="3" descr="BANDA ROSSA 2 OPT BOLOGNA RAST"/>
            <p:cNvSpPr/>
            <p:nvPr/>
          </p:nvSpPr>
          <p:spPr>
            <a:xfrm flipH="false" flipV="false" rot="0">
              <a:off x="0" y="0"/>
              <a:ext cx="13004800" cy="571373"/>
            </a:xfrm>
            <a:custGeom>
              <a:avLst/>
              <a:gdLst/>
              <a:ahLst/>
              <a:cxnLst/>
              <a:rect r="r" b="b" t="t" l="l"/>
              <a:pathLst>
                <a:path h="571373" w="13004800">
                  <a:moveTo>
                    <a:pt x="0" y="0"/>
                  </a:moveTo>
                  <a:lnTo>
                    <a:pt x="13004800" y="0"/>
                  </a:lnTo>
                  <a:lnTo>
                    <a:pt x="13004800" y="571373"/>
                  </a:lnTo>
                  <a:lnTo>
                    <a:pt x="0" y="5713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75" r="0" b="-178"/>
              </a:stretch>
            </a:blip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76032" y="110208"/>
            <a:ext cx="902784" cy="1159680"/>
            <a:chOff x="0" y="0"/>
            <a:chExt cx="1203712" cy="1546240"/>
          </a:xfrm>
        </p:grpSpPr>
        <p:sp>
          <p:nvSpPr>
            <p:cNvPr name="Freeform 5" id="5" descr="Alma-Mater TAGLIATO"/>
            <p:cNvSpPr/>
            <p:nvPr/>
          </p:nvSpPr>
          <p:spPr>
            <a:xfrm flipH="false" flipV="false" rot="0">
              <a:off x="0" y="0"/>
              <a:ext cx="1203706" cy="1546225"/>
            </a:xfrm>
            <a:custGeom>
              <a:avLst/>
              <a:gdLst/>
              <a:ahLst/>
              <a:cxnLst/>
              <a:rect r="r" b="b" t="t" l="l"/>
              <a:pathLst>
                <a:path h="1546225" w="1203706">
                  <a:moveTo>
                    <a:pt x="0" y="0"/>
                  </a:moveTo>
                  <a:lnTo>
                    <a:pt x="1203706" y="0"/>
                  </a:lnTo>
                  <a:lnTo>
                    <a:pt x="1203706" y="1546225"/>
                  </a:lnTo>
                  <a:lnTo>
                    <a:pt x="0" y="15462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9" t="0" r="-1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-3456" y="-91392"/>
            <a:ext cx="184704" cy="1446144"/>
            <a:chOff x="0" y="0"/>
            <a:chExt cx="246272" cy="192819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121666"/>
              <a:ext cx="246253" cy="1684909"/>
            </a:xfrm>
            <a:custGeom>
              <a:avLst/>
              <a:gdLst/>
              <a:ahLst/>
              <a:cxnLst/>
              <a:rect r="r" b="b" t="t" l="l"/>
              <a:pathLst>
                <a:path h="1684909" w="246253">
                  <a:moveTo>
                    <a:pt x="243713" y="0"/>
                  </a:moveTo>
                  <a:lnTo>
                    <a:pt x="246253" y="1684528"/>
                  </a:lnTo>
                  <a:lnTo>
                    <a:pt x="2540" y="1684909"/>
                  </a:lnTo>
                  <a:lnTo>
                    <a:pt x="0" y="381"/>
                  </a:lnTo>
                  <a:close/>
                </a:path>
              </a:pathLst>
            </a:custGeom>
            <a:solidFill>
              <a:srgbClr val="CC0000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-10176" y="1251264"/>
            <a:ext cx="8837376" cy="22272"/>
            <a:chOff x="0" y="0"/>
            <a:chExt cx="11783168" cy="296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3589" y="0"/>
              <a:ext cx="11756009" cy="29718"/>
            </a:xfrm>
            <a:custGeom>
              <a:avLst/>
              <a:gdLst/>
              <a:ahLst/>
              <a:cxnLst/>
              <a:rect r="r" b="b" t="t" l="l"/>
              <a:pathLst>
                <a:path h="29718" w="11756009">
                  <a:moveTo>
                    <a:pt x="0" y="0"/>
                  </a:moveTo>
                  <a:lnTo>
                    <a:pt x="11756009" y="2540"/>
                  </a:lnTo>
                  <a:lnTo>
                    <a:pt x="11756009" y="29718"/>
                  </a:lnTo>
                  <a:lnTo>
                    <a:pt x="0" y="27178"/>
                  </a:lnTo>
                  <a:close/>
                </a:path>
              </a:pathLst>
            </a:custGeom>
            <a:solidFill>
              <a:srgbClr val="5F5F5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851200" y="6832512"/>
            <a:ext cx="40704" cy="416640"/>
            <a:chOff x="0" y="0"/>
            <a:chExt cx="54272" cy="5555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27178"/>
              <a:ext cx="54229" cy="501269"/>
            </a:xfrm>
            <a:custGeom>
              <a:avLst/>
              <a:gdLst/>
              <a:ahLst/>
              <a:cxnLst/>
              <a:rect r="r" b="b" t="t" l="l"/>
              <a:pathLst>
                <a:path h="501269" w="54229">
                  <a:moveTo>
                    <a:pt x="54229" y="0"/>
                  </a:moveTo>
                  <a:lnTo>
                    <a:pt x="54229" y="501269"/>
                  </a:lnTo>
                  <a:lnTo>
                    <a:pt x="0" y="5012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851200" y="6478848"/>
            <a:ext cx="40704" cy="425088"/>
            <a:chOff x="0" y="0"/>
            <a:chExt cx="54272" cy="56678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27178"/>
              <a:ext cx="54229" cy="512445"/>
            </a:xfrm>
            <a:custGeom>
              <a:avLst/>
              <a:gdLst/>
              <a:ahLst/>
              <a:cxnLst/>
              <a:rect r="r" b="b" t="t" l="l"/>
              <a:pathLst>
                <a:path h="512445" w="54229">
                  <a:moveTo>
                    <a:pt x="54229" y="0"/>
                  </a:moveTo>
                  <a:lnTo>
                    <a:pt x="54229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5F5F"/>
            </a:solid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2538522" y="4038600"/>
            <a:ext cx="4799559" cy="851535"/>
          </a:xfrm>
          <a:custGeom>
            <a:avLst/>
            <a:gdLst/>
            <a:ahLst/>
            <a:cxnLst/>
            <a:rect r="r" b="b" t="t" l="l"/>
            <a:pathLst>
              <a:path h="851535" w="4799559">
                <a:moveTo>
                  <a:pt x="0" y="0"/>
                </a:moveTo>
                <a:lnTo>
                  <a:pt x="4799558" y="0"/>
                </a:lnTo>
                <a:lnTo>
                  <a:pt x="4799558" y="851535"/>
                </a:lnTo>
                <a:lnTo>
                  <a:pt x="0" y="8515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991872" y="5073083"/>
            <a:ext cx="8030208" cy="963625"/>
          </a:xfrm>
          <a:custGeom>
            <a:avLst/>
            <a:gdLst/>
            <a:ahLst/>
            <a:cxnLst/>
            <a:rect r="r" b="b" t="t" l="l"/>
            <a:pathLst>
              <a:path h="963625" w="8030208">
                <a:moveTo>
                  <a:pt x="0" y="0"/>
                </a:moveTo>
                <a:lnTo>
                  <a:pt x="8030208" y="0"/>
                </a:lnTo>
                <a:lnTo>
                  <a:pt x="8030208" y="963625"/>
                </a:lnTo>
                <a:lnTo>
                  <a:pt x="0" y="9636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2538522" y="409251"/>
            <a:ext cx="4676557" cy="494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47"/>
              </a:lnSpc>
            </a:pPr>
            <a:r>
              <a:rPr lang="en-US" sz="30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Obiettivi del progetto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31520" y="1750122"/>
            <a:ext cx="8290560" cy="810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9" indent="-237490" lvl="1">
              <a:lnSpc>
                <a:spcPts val="3079"/>
              </a:lnSpc>
              <a:buAutoNum type="arabicPeriod" startAt="1"/>
            </a:pPr>
            <a:r>
              <a:rPr lang="en-US" b="true" sz="2199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Implementazione</a:t>
            </a:r>
            <a:r>
              <a:rPr lang="en-US" sz="21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di un sistema simulato per l’addestramento federato di un modello di machine learning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47421" y="3014472"/>
            <a:ext cx="8290560" cy="643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5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2. </a:t>
            </a:r>
            <a:r>
              <a:rPr lang="en-US" b="true" sz="2199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Calcol</a:t>
            </a:r>
            <a:r>
              <a:rPr lang="en-US" b="true" sz="2199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o di metriche</a:t>
            </a:r>
            <a:r>
              <a:rPr lang="en-US" sz="21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per la valutazione di performance ed eventuali</a:t>
            </a:r>
          </a:p>
          <a:p>
            <a:pPr algn="l">
              <a:lnSpc>
                <a:spcPts val="2375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    limiti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263440" y="6986643"/>
            <a:ext cx="88925" cy="230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12"/>
              </a:lnSpc>
              <a:spcBef>
                <a:spcPct val="0"/>
              </a:spcBef>
            </a:pPr>
            <a:r>
              <a:rPr lang="en-US" sz="14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4</a:t>
            </a:r>
          </a:p>
        </p:txBody>
      </p:sp>
    </p:spTree>
  </p:cSld>
  <p:clrMapOvr>
    <a:masterClrMapping/>
  </p:clrMapOvr>
  <p:transition spd="fast">
    <p:fad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6885120"/>
            <a:ext cx="9753600" cy="428544"/>
            <a:chOff x="0" y="0"/>
            <a:chExt cx="13004800" cy="571392"/>
          </a:xfrm>
        </p:grpSpPr>
        <p:sp>
          <p:nvSpPr>
            <p:cNvPr name="Freeform 3" id="3" descr="BANDA ROSSA 2 OPT BOLOGNA RAST"/>
            <p:cNvSpPr/>
            <p:nvPr/>
          </p:nvSpPr>
          <p:spPr>
            <a:xfrm flipH="false" flipV="false" rot="0">
              <a:off x="0" y="0"/>
              <a:ext cx="13004800" cy="571373"/>
            </a:xfrm>
            <a:custGeom>
              <a:avLst/>
              <a:gdLst/>
              <a:ahLst/>
              <a:cxnLst/>
              <a:rect r="r" b="b" t="t" l="l"/>
              <a:pathLst>
                <a:path h="571373" w="13004800">
                  <a:moveTo>
                    <a:pt x="0" y="0"/>
                  </a:moveTo>
                  <a:lnTo>
                    <a:pt x="13004800" y="0"/>
                  </a:lnTo>
                  <a:lnTo>
                    <a:pt x="13004800" y="571373"/>
                  </a:lnTo>
                  <a:lnTo>
                    <a:pt x="0" y="5713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75" r="0" b="-178"/>
              </a:stretch>
            </a:blip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76032" y="110208"/>
            <a:ext cx="902784" cy="1159680"/>
            <a:chOff x="0" y="0"/>
            <a:chExt cx="1203712" cy="1546240"/>
          </a:xfrm>
        </p:grpSpPr>
        <p:sp>
          <p:nvSpPr>
            <p:cNvPr name="Freeform 5" id="5" descr="Alma-Mater TAGLIATO"/>
            <p:cNvSpPr/>
            <p:nvPr/>
          </p:nvSpPr>
          <p:spPr>
            <a:xfrm flipH="false" flipV="false" rot="0">
              <a:off x="0" y="0"/>
              <a:ext cx="1203706" cy="1546225"/>
            </a:xfrm>
            <a:custGeom>
              <a:avLst/>
              <a:gdLst/>
              <a:ahLst/>
              <a:cxnLst/>
              <a:rect r="r" b="b" t="t" l="l"/>
              <a:pathLst>
                <a:path h="1546225" w="1203706">
                  <a:moveTo>
                    <a:pt x="0" y="0"/>
                  </a:moveTo>
                  <a:lnTo>
                    <a:pt x="1203706" y="0"/>
                  </a:lnTo>
                  <a:lnTo>
                    <a:pt x="1203706" y="1546225"/>
                  </a:lnTo>
                  <a:lnTo>
                    <a:pt x="0" y="15462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9" t="0" r="-1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-3456" y="-91392"/>
            <a:ext cx="184704" cy="1446144"/>
            <a:chOff x="0" y="0"/>
            <a:chExt cx="246272" cy="192819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121666"/>
              <a:ext cx="246253" cy="1684909"/>
            </a:xfrm>
            <a:custGeom>
              <a:avLst/>
              <a:gdLst/>
              <a:ahLst/>
              <a:cxnLst/>
              <a:rect r="r" b="b" t="t" l="l"/>
              <a:pathLst>
                <a:path h="1684909" w="246253">
                  <a:moveTo>
                    <a:pt x="243713" y="0"/>
                  </a:moveTo>
                  <a:lnTo>
                    <a:pt x="246253" y="1684528"/>
                  </a:lnTo>
                  <a:lnTo>
                    <a:pt x="2540" y="1684909"/>
                  </a:lnTo>
                  <a:lnTo>
                    <a:pt x="0" y="381"/>
                  </a:lnTo>
                  <a:close/>
                </a:path>
              </a:pathLst>
            </a:custGeom>
            <a:solidFill>
              <a:srgbClr val="CC0000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-10176" y="1251264"/>
            <a:ext cx="8837376" cy="22272"/>
            <a:chOff x="0" y="0"/>
            <a:chExt cx="11783168" cy="296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3589" y="0"/>
              <a:ext cx="11756009" cy="29718"/>
            </a:xfrm>
            <a:custGeom>
              <a:avLst/>
              <a:gdLst/>
              <a:ahLst/>
              <a:cxnLst/>
              <a:rect r="r" b="b" t="t" l="l"/>
              <a:pathLst>
                <a:path h="29718" w="11756009">
                  <a:moveTo>
                    <a:pt x="0" y="0"/>
                  </a:moveTo>
                  <a:lnTo>
                    <a:pt x="11756009" y="2540"/>
                  </a:lnTo>
                  <a:lnTo>
                    <a:pt x="11756009" y="29718"/>
                  </a:lnTo>
                  <a:lnTo>
                    <a:pt x="0" y="27178"/>
                  </a:lnTo>
                  <a:close/>
                </a:path>
              </a:pathLst>
            </a:custGeom>
            <a:solidFill>
              <a:srgbClr val="5F5F5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851200" y="6832512"/>
            <a:ext cx="40704" cy="416640"/>
            <a:chOff x="0" y="0"/>
            <a:chExt cx="54272" cy="5555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27178"/>
              <a:ext cx="54229" cy="501269"/>
            </a:xfrm>
            <a:custGeom>
              <a:avLst/>
              <a:gdLst/>
              <a:ahLst/>
              <a:cxnLst/>
              <a:rect r="r" b="b" t="t" l="l"/>
              <a:pathLst>
                <a:path h="501269" w="54229">
                  <a:moveTo>
                    <a:pt x="54229" y="0"/>
                  </a:moveTo>
                  <a:lnTo>
                    <a:pt x="54229" y="501269"/>
                  </a:lnTo>
                  <a:lnTo>
                    <a:pt x="0" y="5012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851200" y="6478848"/>
            <a:ext cx="40704" cy="425088"/>
            <a:chOff x="0" y="0"/>
            <a:chExt cx="54272" cy="56678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27178"/>
              <a:ext cx="54229" cy="512445"/>
            </a:xfrm>
            <a:custGeom>
              <a:avLst/>
              <a:gdLst/>
              <a:ahLst/>
              <a:cxnLst/>
              <a:rect r="r" b="b" t="t" l="l"/>
              <a:pathLst>
                <a:path h="512445" w="54229">
                  <a:moveTo>
                    <a:pt x="54229" y="0"/>
                  </a:moveTo>
                  <a:lnTo>
                    <a:pt x="54229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5F5F"/>
            </a:solid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5264936" y="1929569"/>
            <a:ext cx="3586264" cy="3930152"/>
          </a:xfrm>
          <a:custGeom>
            <a:avLst/>
            <a:gdLst/>
            <a:ahLst/>
            <a:cxnLst/>
            <a:rect r="r" b="b" t="t" l="l"/>
            <a:pathLst>
              <a:path h="3930152" w="3586264">
                <a:moveTo>
                  <a:pt x="0" y="0"/>
                </a:moveTo>
                <a:lnTo>
                  <a:pt x="3586264" y="0"/>
                </a:lnTo>
                <a:lnTo>
                  <a:pt x="3586264" y="3930152"/>
                </a:lnTo>
                <a:lnTo>
                  <a:pt x="0" y="39301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5805715" y="312777"/>
            <a:ext cx="656856" cy="656856"/>
          </a:xfrm>
          <a:custGeom>
            <a:avLst/>
            <a:gdLst/>
            <a:ahLst/>
            <a:cxnLst/>
            <a:rect r="r" b="b" t="t" l="l"/>
            <a:pathLst>
              <a:path h="656856" w="656856">
                <a:moveTo>
                  <a:pt x="0" y="0"/>
                </a:moveTo>
                <a:lnTo>
                  <a:pt x="656856" y="0"/>
                </a:lnTo>
                <a:lnTo>
                  <a:pt x="656856" y="656856"/>
                </a:lnTo>
                <a:lnTo>
                  <a:pt x="0" y="65685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2335588" y="409251"/>
            <a:ext cx="3367925" cy="494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47"/>
              </a:lnSpc>
            </a:pPr>
            <a:r>
              <a:rPr lang="en-US" sz="30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Framework Flower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26829" y="1912175"/>
            <a:ext cx="3880471" cy="198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</a:t>
            </a:r>
            <a:r>
              <a:rPr lang="en-US" sz="21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iattaforma open source che semplifica la creazione, progettazione e testing di sistemi di federated learning</a:t>
            </a:r>
          </a:p>
          <a:p>
            <a:pPr algn="l">
              <a:lnSpc>
                <a:spcPts val="3079"/>
              </a:lnSpc>
              <a:spcBef>
                <a:spcPct val="0"/>
              </a:spcBef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626829" y="3720215"/>
            <a:ext cx="3880471" cy="198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b="true" sz="2199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Scalabile</a:t>
            </a:r>
            <a:r>
              <a:rPr lang="en-US" sz="21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a numero elevato di clienti</a:t>
            </a:r>
          </a:p>
          <a:p>
            <a:pPr algn="l" marL="474979" indent="-237490" lvl="1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199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Flessibile</a:t>
            </a:r>
            <a:r>
              <a:rPr lang="en-US" sz="21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su tipologia di client, algoritmi di comunicazione e sicurezza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263440" y="6986643"/>
            <a:ext cx="88925" cy="230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12"/>
              </a:lnSpc>
              <a:spcBef>
                <a:spcPct val="0"/>
              </a:spcBef>
            </a:pPr>
            <a:r>
              <a:rPr lang="en-US" sz="14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5</a:t>
            </a:r>
          </a:p>
        </p:txBody>
      </p:sp>
    </p:spTree>
  </p:cSld>
  <p:clrMapOvr>
    <a:masterClrMapping/>
  </p:clrMapOvr>
  <p:transition spd="fast">
    <p:fade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6885120"/>
            <a:ext cx="9753600" cy="428544"/>
            <a:chOff x="0" y="0"/>
            <a:chExt cx="13004800" cy="571392"/>
          </a:xfrm>
        </p:grpSpPr>
        <p:sp>
          <p:nvSpPr>
            <p:cNvPr name="Freeform 3" id="3" descr="BANDA ROSSA 2 OPT BOLOGNA RAST"/>
            <p:cNvSpPr/>
            <p:nvPr/>
          </p:nvSpPr>
          <p:spPr>
            <a:xfrm flipH="false" flipV="false" rot="0">
              <a:off x="0" y="0"/>
              <a:ext cx="13004800" cy="571373"/>
            </a:xfrm>
            <a:custGeom>
              <a:avLst/>
              <a:gdLst/>
              <a:ahLst/>
              <a:cxnLst/>
              <a:rect r="r" b="b" t="t" l="l"/>
              <a:pathLst>
                <a:path h="571373" w="13004800">
                  <a:moveTo>
                    <a:pt x="0" y="0"/>
                  </a:moveTo>
                  <a:lnTo>
                    <a:pt x="13004800" y="0"/>
                  </a:lnTo>
                  <a:lnTo>
                    <a:pt x="13004800" y="571373"/>
                  </a:lnTo>
                  <a:lnTo>
                    <a:pt x="0" y="5713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75" r="0" b="-178"/>
              </a:stretch>
            </a:blip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76032" y="110208"/>
            <a:ext cx="902784" cy="1159680"/>
            <a:chOff x="0" y="0"/>
            <a:chExt cx="1203712" cy="1546240"/>
          </a:xfrm>
        </p:grpSpPr>
        <p:sp>
          <p:nvSpPr>
            <p:cNvPr name="Freeform 5" id="5" descr="Alma-Mater TAGLIATO"/>
            <p:cNvSpPr/>
            <p:nvPr/>
          </p:nvSpPr>
          <p:spPr>
            <a:xfrm flipH="false" flipV="false" rot="0">
              <a:off x="0" y="0"/>
              <a:ext cx="1203706" cy="1546225"/>
            </a:xfrm>
            <a:custGeom>
              <a:avLst/>
              <a:gdLst/>
              <a:ahLst/>
              <a:cxnLst/>
              <a:rect r="r" b="b" t="t" l="l"/>
              <a:pathLst>
                <a:path h="1546225" w="1203706">
                  <a:moveTo>
                    <a:pt x="0" y="0"/>
                  </a:moveTo>
                  <a:lnTo>
                    <a:pt x="1203706" y="0"/>
                  </a:lnTo>
                  <a:lnTo>
                    <a:pt x="1203706" y="1546225"/>
                  </a:lnTo>
                  <a:lnTo>
                    <a:pt x="0" y="15462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9" t="0" r="-1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-3456" y="-91392"/>
            <a:ext cx="184704" cy="1446144"/>
            <a:chOff x="0" y="0"/>
            <a:chExt cx="246272" cy="192819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121666"/>
              <a:ext cx="246253" cy="1684909"/>
            </a:xfrm>
            <a:custGeom>
              <a:avLst/>
              <a:gdLst/>
              <a:ahLst/>
              <a:cxnLst/>
              <a:rect r="r" b="b" t="t" l="l"/>
              <a:pathLst>
                <a:path h="1684909" w="246253">
                  <a:moveTo>
                    <a:pt x="243713" y="0"/>
                  </a:moveTo>
                  <a:lnTo>
                    <a:pt x="246253" y="1684528"/>
                  </a:lnTo>
                  <a:lnTo>
                    <a:pt x="2540" y="1684909"/>
                  </a:lnTo>
                  <a:lnTo>
                    <a:pt x="0" y="381"/>
                  </a:lnTo>
                  <a:close/>
                </a:path>
              </a:pathLst>
            </a:custGeom>
            <a:solidFill>
              <a:srgbClr val="CC0000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-10176" y="1251264"/>
            <a:ext cx="8837376" cy="22272"/>
            <a:chOff x="0" y="0"/>
            <a:chExt cx="11783168" cy="296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3589" y="0"/>
              <a:ext cx="11756009" cy="29718"/>
            </a:xfrm>
            <a:custGeom>
              <a:avLst/>
              <a:gdLst/>
              <a:ahLst/>
              <a:cxnLst/>
              <a:rect r="r" b="b" t="t" l="l"/>
              <a:pathLst>
                <a:path h="29718" w="11756009">
                  <a:moveTo>
                    <a:pt x="0" y="0"/>
                  </a:moveTo>
                  <a:lnTo>
                    <a:pt x="11756009" y="2540"/>
                  </a:lnTo>
                  <a:lnTo>
                    <a:pt x="11756009" y="29718"/>
                  </a:lnTo>
                  <a:lnTo>
                    <a:pt x="0" y="27178"/>
                  </a:lnTo>
                  <a:close/>
                </a:path>
              </a:pathLst>
            </a:custGeom>
            <a:solidFill>
              <a:srgbClr val="5F5F5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851200" y="6832512"/>
            <a:ext cx="40704" cy="416640"/>
            <a:chOff x="0" y="0"/>
            <a:chExt cx="54272" cy="5555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27178"/>
              <a:ext cx="54229" cy="501269"/>
            </a:xfrm>
            <a:custGeom>
              <a:avLst/>
              <a:gdLst/>
              <a:ahLst/>
              <a:cxnLst/>
              <a:rect r="r" b="b" t="t" l="l"/>
              <a:pathLst>
                <a:path h="501269" w="54229">
                  <a:moveTo>
                    <a:pt x="54229" y="0"/>
                  </a:moveTo>
                  <a:lnTo>
                    <a:pt x="54229" y="501269"/>
                  </a:lnTo>
                  <a:lnTo>
                    <a:pt x="0" y="5012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851200" y="6478848"/>
            <a:ext cx="40704" cy="425088"/>
            <a:chOff x="0" y="0"/>
            <a:chExt cx="54272" cy="56678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27178"/>
              <a:ext cx="54229" cy="512445"/>
            </a:xfrm>
            <a:custGeom>
              <a:avLst/>
              <a:gdLst/>
              <a:ahLst/>
              <a:cxnLst/>
              <a:rect r="r" b="b" t="t" l="l"/>
              <a:pathLst>
                <a:path h="512445" w="54229">
                  <a:moveTo>
                    <a:pt x="54229" y="0"/>
                  </a:moveTo>
                  <a:lnTo>
                    <a:pt x="54229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5F5F"/>
            </a:solid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731520" y="2326894"/>
            <a:ext cx="8290560" cy="3098597"/>
          </a:xfrm>
          <a:custGeom>
            <a:avLst/>
            <a:gdLst/>
            <a:ahLst/>
            <a:cxnLst/>
            <a:rect r="r" b="b" t="t" l="l"/>
            <a:pathLst>
              <a:path h="3098597" w="8290560">
                <a:moveTo>
                  <a:pt x="0" y="0"/>
                </a:moveTo>
                <a:lnTo>
                  <a:pt x="8290560" y="0"/>
                </a:lnTo>
                <a:lnTo>
                  <a:pt x="8290560" y="3098596"/>
                </a:lnTo>
                <a:lnTo>
                  <a:pt x="0" y="30985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538522" y="409251"/>
            <a:ext cx="4676557" cy="494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47"/>
              </a:lnSpc>
            </a:pPr>
            <a:r>
              <a:rPr lang="en-US" sz="30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Architettura del sistema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263440" y="6986643"/>
            <a:ext cx="88925" cy="230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12"/>
              </a:lnSpc>
              <a:spcBef>
                <a:spcPct val="0"/>
              </a:spcBef>
            </a:pPr>
            <a:r>
              <a:rPr lang="en-US" sz="14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6</a:t>
            </a:r>
          </a:p>
        </p:txBody>
      </p:sp>
    </p:spTree>
  </p:cSld>
  <p:clrMapOvr>
    <a:masterClrMapping/>
  </p:clrMapOvr>
  <p:transition spd="fast">
    <p:fade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6885120"/>
            <a:ext cx="9753600" cy="428544"/>
            <a:chOff x="0" y="0"/>
            <a:chExt cx="13004800" cy="571392"/>
          </a:xfrm>
        </p:grpSpPr>
        <p:sp>
          <p:nvSpPr>
            <p:cNvPr name="Freeform 3" id="3" descr="BANDA ROSSA 2 OPT BOLOGNA RAST"/>
            <p:cNvSpPr/>
            <p:nvPr/>
          </p:nvSpPr>
          <p:spPr>
            <a:xfrm flipH="false" flipV="false" rot="0">
              <a:off x="0" y="0"/>
              <a:ext cx="13004800" cy="571373"/>
            </a:xfrm>
            <a:custGeom>
              <a:avLst/>
              <a:gdLst/>
              <a:ahLst/>
              <a:cxnLst/>
              <a:rect r="r" b="b" t="t" l="l"/>
              <a:pathLst>
                <a:path h="571373" w="13004800">
                  <a:moveTo>
                    <a:pt x="0" y="0"/>
                  </a:moveTo>
                  <a:lnTo>
                    <a:pt x="13004800" y="0"/>
                  </a:lnTo>
                  <a:lnTo>
                    <a:pt x="13004800" y="571373"/>
                  </a:lnTo>
                  <a:lnTo>
                    <a:pt x="0" y="5713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75" r="0" b="-178"/>
              </a:stretch>
            </a:blip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76032" y="110208"/>
            <a:ext cx="902784" cy="1159680"/>
            <a:chOff x="0" y="0"/>
            <a:chExt cx="1203712" cy="1546240"/>
          </a:xfrm>
        </p:grpSpPr>
        <p:sp>
          <p:nvSpPr>
            <p:cNvPr name="Freeform 5" id="5" descr="Alma-Mater TAGLIATO"/>
            <p:cNvSpPr/>
            <p:nvPr/>
          </p:nvSpPr>
          <p:spPr>
            <a:xfrm flipH="false" flipV="false" rot="0">
              <a:off x="0" y="0"/>
              <a:ext cx="1203706" cy="1546225"/>
            </a:xfrm>
            <a:custGeom>
              <a:avLst/>
              <a:gdLst/>
              <a:ahLst/>
              <a:cxnLst/>
              <a:rect r="r" b="b" t="t" l="l"/>
              <a:pathLst>
                <a:path h="1546225" w="1203706">
                  <a:moveTo>
                    <a:pt x="0" y="0"/>
                  </a:moveTo>
                  <a:lnTo>
                    <a:pt x="1203706" y="0"/>
                  </a:lnTo>
                  <a:lnTo>
                    <a:pt x="1203706" y="1546225"/>
                  </a:lnTo>
                  <a:lnTo>
                    <a:pt x="0" y="15462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9" t="0" r="-1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-3456" y="-91392"/>
            <a:ext cx="184704" cy="1446144"/>
            <a:chOff x="0" y="0"/>
            <a:chExt cx="246272" cy="192819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121666"/>
              <a:ext cx="246253" cy="1684909"/>
            </a:xfrm>
            <a:custGeom>
              <a:avLst/>
              <a:gdLst/>
              <a:ahLst/>
              <a:cxnLst/>
              <a:rect r="r" b="b" t="t" l="l"/>
              <a:pathLst>
                <a:path h="1684909" w="246253">
                  <a:moveTo>
                    <a:pt x="243713" y="0"/>
                  </a:moveTo>
                  <a:lnTo>
                    <a:pt x="246253" y="1684528"/>
                  </a:lnTo>
                  <a:lnTo>
                    <a:pt x="2540" y="1684909"/>
                  </a:lnTo>
                  <a:lnTo>
                    <a:pt x="0" y="381"/>
                  </a:lnTo>
                  <a:close/>
                </a:path>
              </a:pathLst>
            </a:custGeom>
            <a:solidFill>
              <a:srgbClr val="CC0000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-10176" y="1251264"/>
            <a:ext cx="8837376" cy="22272"/>
            <a:chOff x="0" y="0"/>
            <a:chExt cx="11783168" cy="296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3589" y="0"/>
              <a:ext cx="11756009" cy="29718"/>
            </a:xfrm>
            <a:custGeom>
              <a:avLst/>
              <a:gdLst/>
              <a:ahLst/>
              <a:cxnLst/>
              <a:rect r="r" b="b" t="t" l="l"/>
              <a:pathLst>
                <a:path h="29718" w="11756009">
                  <a:moveTo>
                    <a:pt x="0" y="0"/>
                  </a:moveTo>
                  <a:lnTo>
                    <a:pt x="11756009" y="2540"/>
                  </a:lnTo>
                  <a:lnTo>
                    <a:pt x="11756009" y="29718"/>
                  </a:lnTo>
                  <a:lnTo>
                    <a:pt x="0" y="27178"/>
                  </a:lnTo>
                  <a:close/>
                </a:path>
              </a:pathLst>
            </a:custGeom>
            <a:solidFill>
              <a:srgbClr val="5F5F5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851200" y="6832512"/>
            <a:ext cx="40704" cy="416640"/>
            <a:chOff x="0" y="0"/>
            <a:chExt cx="54272" cy="5555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27178"/>
              <a:ext cx="54229" cy="501269"/>
            </a:xfrm>
            <a:custGeom>
              <a:avLst/>
              <a:gdLst/>
              <a:ahLst/>
              <a:cxnLst/>
              <a:rect r="r" b="b" t="t" l="l"/>
              <a:pathLst>
                <a:path h="501269" w="54229">
                  <a:moveTo>
                    <a:pt x="54229" y="0"/>
                  </a:moveTo>
                  <a:lnTo>
                    <a:pt x="54229" y="501269"/>
                  </a:lnTo>
                  <a:lnTo>
                    <a:pt x="0" y="5012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851200" y="6478848"/>
            <a:ext cx="40704" cy="425088"/>
            <a:chOff x="0" y="0"/>
            <a:chExt cx="54272" cy="56678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27178"/>
              <a:ext cx="54229" cy="512445"/>
            </a:xfrm>
            <a:custGeom>
              <a:avLst/>
              <a:gdLst/>
              <a:ahLst/>
              <a:cxnLst/>
              <a:rect r="r" b="b" t="t" l="l"/>
              <a:pathLst>
                <a:path h="512445" w="54229">
                  <a:moveTo>
                    <a:pt x="54229" y="0"/>
                  </a:moveTo>
                  <a:lnTo>
                    <a:pt x="54229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5F5F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749636" y="1561027"/>
            <a:ext cx="6730008" cy="4632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74979" indent="-237490" lvl="1">
              <a:lnSpc>
                <a:spcPts val="4641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Linguaggio di programmazione: Python</a:t>
            </a:r>
          </a:p>
          <a:p>
            <a:pPr algn="just" marL="474979" indent="-237490" lvl="1">
              <a:lnSpc>
                <a:spcPts val="4641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Rete neurale da addestrare: InceptionResNetV1</a:t>
            </a:r>
          </a:p>
          <a:p>
            <a:pPr algn="just" marL="474979" indent="-237490" lvl="1">
              <a:lnSpc>
                <a:spcPts val="4641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Framework di machine learning: PyTorch</a:t>
            </a:r>
          </a:p>
          <a:p>
            <a:pPr algn="just" marL="474979" indent="-237490" lvl="1">
              <a:lnSpc>
                <a:spcPts val="4641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Dataset di addestramento: Labeled Faces in the Wild</a:t>
            </a:r>
          </a:p>
          <a:p>
            <a:pPr algn="just" marL="474979" indent="-237490" lvl="1">
              <a:lnSpc>
                <a:spcPts val="4641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Funzione di perdita: Cross-Entropy Loss</a:t>
            </a:r>
          </a:p>
          <a:p>
            <a:pPr algn="just" marL="474979" indent="-237490" lvl="1">
              <a:lnSpc>
                <a:spcPts val="4641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Algoritmo di ottimizzazione: Adam</a:t>
            </a:r>
          </a:p>
          <a:p>
            <a:pPr algn="just" marL="474979" indent="-237490" lvl="1">
              <a:lnSpc>
                <a:spcPts val="4641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Algoritmo di aggregazione: Federated Averaging</a:t>
            </a:r>
          </a:p>
          <a:p>
            <a:pPr algn="just" marL="474979" indent="-237490" lvl="1">
              <a:lnSpc>
                <a:spcPts val="4641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Valutazione del modello: similarità coseno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6354956" y="3903199"/>
            <a:ext cx="2434144" cy="798265"/>
          </a:xfrm>
          <a:custGeom>
            <a:avLst/>
            <a:gdLst/>
            <a:ahLst/>
            <a:cxnLst/>
            <a:rect r="r" b="b" t="t" l="l"/>
            <a:pathLst>
              <a:path h="798265" w="2434144">
                <a:moveTo>
                  <a:pt x="0" y="0"/>
                </a:moveTo>
                <a:lnTo>
                  <a:pt x="2434144" y="0"/>
                </a:lnTo>
                <a:lnTo>
                  <a:pt x="2434144" y="798266"/>
                </a:lnTo>
                <a:lnTo>
                  <a:pt x="0" y="7982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9424" r="0" b="-10075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6460358" y="5643753"/>
            <a:ext cx="2607749" cy="806520"/>
          </a:xfrm>
          <a:custGeom>
            <a:avLst/>
            <a:gdLst/>
            <a:ahLst/>
            <a:cxnLst/>
            <a:rect r="r" b="b" t="t" l="l"/>
            <a:pathLst>
              <a:path h="806520" w="2607749">
                <a:moveTo>
                  <a:pt x="0" y="0"/>
                </a:moveTo>
                <a:lnTo>
                  <a:pt x="2607749" y="0"/>
                </a:lnTo>
                <a:lnTo>
                  <a:pt x="2607749" y="806520"/>
                </a:lnTo>
                <a:lnTo>
                  <a:pt x="0" y="8065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2198277" y="409251"/>
            <a:ext cx="5357045" cy="494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47"/>
              </a:lnSpc>
            </a:pPr>
            <a:r>
              <a:rPr lang="en-US" sz="30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Implementazione del sistema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263440" y="6986643"/>
            <a:ext cx="88925" cy="230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12"/>
              </a:lnSpc>
              <a:spcBef>
                <a:spcPct val="0"/>
              </a:spcBef>
            </a:pPr>
            <a:r>
              <a:rPr lang="en-US" sz="14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7</a:t>
            </a:r>
          </a:p>
        </p:txBody>
      </p:sp>
    </p:spTree>
  </p:cSld>
  <p:clrMapOvr>
    <a:masterClrMapping/>
  </p:clrMapOvr>
  <p:transition spd="fast">
    <p:fade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6885120"/>
            <a:ext cx="9753600" cy="428544"/>
            <a:chOff x="0" y="0"/>
            <a:chExt cx="13004800" cy="571392"/>
          </a:xfrm>
        </p:grpSpPr>
        <p:sp>
          <p:nvSpPr>
            <p:cNvPr name="Freeform 3" id="3" descr="BANDA ROSSA 2 OPT BOLOGNA RAST"/>
            <p:cNvSpPr/>
            <p:nvPr/>
          </p:nvSpPr>
          <p:spPr>
            <a:xfrm flipH="false" flipV="false" rot="0">
              <a:off x="0" y="0"/>
              <a:ext cx="13004800" cy="571373"/>
            </a:xfrm>
            <a:custGeom>
              <a:avLst/>
              <a:gdLst/>
              <a:ahLst/>
              <a:cxnLst/>
              <a:rect r="r" b="b" t="t" l="l"/>
              <a:pathLst>
                <a:path h="571373" w="13004800">
                  <a:moveTo>
                    <a:pt x="0" y="0"/>
                  </a:moveTo>
                  <a:lnTo>
                    <a:pt x="13004800" y="0"/>
                  </a:lnTo>
                  <a:lnTo>
                    <a:pt x="13004800" y="571373"/>
                  </a:lnTo>
                  <a:lnTo>
                    <a:pt x="0" y="5713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75" r="0" b="-178"/>
              </a:stretch>
            </a:blip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76032" y="110208"/>
            <a:ext cx="902784" cy="1159680"/>
            <a:chOff x="0" y="0"/>
            <a:chExt cx="1203712" cy="1546240"/>
          </a:xfrm>
        </p:grpSpPr>
        <p:sp>
          <p:nvSpPr>
            <p:cNvPr name="Freeform 5" id="5" descr="Alma-Mater TAGLIATO"/>
            <p:cNvSpPr/>
            <p:nvPr/>
          </p:nvSpPr>
          <p:spPr>
            <a:xfrm flipH="false" flipV="false" rot="0">
              <a:off x="0" y="0"/>
              <a:ext cx="1203706" cy="1546225"/>
            </a:xfrm>
            <a:custGeom>
              <a:avLst/>
              <a:gdLst/>
              <a:ahLst/>
              <a:cxnLst/>
              <a:rect r="r" b="b" t="t" l="l"/>
              <a:pathLst>
                <a:path h="1546225" w="1203706">
                  <a:moveTo>
                    <a:pt x="0" y="0"/>
                  </a:moveTo>
                  <a:lnTo>
                    <a:pt x="1203706" y="0"/>
                  </a:lnTo>
                  <a:lnTo>
                    <a:pt x="1203706" y="1546225"/>
                  </a:lnTo>
                  <a:lnTo>
                    <a:pt x="0" y="15462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9" t="0" r="-1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-3456" y="-91392"/>
            <a:ext cx="184704" cy="1446144"/>
            <a:chOff x="0" y="0"/>
            <a:chExt cx="246272" cy="192819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121666"/>
              <a:ext cx="246253" cy="1684909"/>
            </a:xfrm>
            <a:custGeom>
              <a:avLst/>
              <a:gdLst/>
              <a:ahLst/>
              <a:cxnLst/>
              <a:rect r="r" b="b" t="t" l="l"/>
              <a:pathLst>
                <a:path h="1684909" w="246253">
                  <a:moveTo>
                    <a:pt x="243713" y="0"/>
                  </a:moveTo>
                  <a:lnTo>
                    <a:pt x="246253" y="1684528"/>
                  </a:lnTo>
                  <a:lnTo>
                    <a:pt x="2540" y="1684909"/>
                  </a:lnTo>
                  <a:lnTo>
                    <a:pt x="0" y="381"/>
                  </a:lnTo>
                  <a:close/>
                </a:path>
              </a:pathLst>
            </a:custGeom>
            <a:solidFill>
              <a:srgbClr val="CC0000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-10176" y="1251264"/>
            <a:ext cx="8837376" cy="22272"/>
            <a:chOff x="0" y="0"/>
            <a:chExt cx="11783168" cy="296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3589" y="0"/>
              <a:ext cx="11756009" cy="29718"/>
            </a:xfrm>
            <a:custGeom>
              <a:avLst/>
              <a:gdLst/>
              <a:ahLst/>
              <a:cxnLst/>
              <a:rect r="r" b="b" t="t" l="l"/>
              <a:pathLst>
                <a:path h="29718" w="11756009">
                  <a:moveTo>
                    <a:pt x="0" y="0"/>
                  </a:moveTo>
                  <a:lnTo>
                    <a:pt x="11756009" y="2540"/>
                  </a:lnTo>
                  <a:lnTo>
                    <a:pt x="11756009" y="29718"/>
                  </a:lnTo>
                  <a:lnTo>
                    <a:pt x="0" y="27178"/>
                  </a:lnTo>
                  <a:close/>
                </a:path>
              </a:pathLst>
            </a:custGeom>
            <a:solidFill>
              <a:srgbClr val="5F5F5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851200" y="6832512"/>
            <a:ext cx="40704" cy="416640"/>
            <a:chOff x="0" y="0"/>
            <a:chExt cx="54272" cy="5555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27178"/>
              <a:ext cx="54229" cy="501269"/>
            </a:xfrm>
            <a:custGeom>
              <a:avLst/>
              <a:gdLst/>
              <a:ahLst/>
              <a:cxnLst/>
              <a:rect r="r" b="b" t="t" l="l"/>
              <a:pathLst>
                <a:path h="501269" w="54229">
                  <a:moveTo>
                    <a:pt x="54229" y="0"/>
                  </a:moveTo>
                  <a:lnTo>
                    <a:pt x="54229" y="501269"/>
                  </a:lnTo>
                  <a:lnTo>
                    <a:pt x="0" y="5012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851200" y="6478848"/>
            <a:ext cx="40704" cy="425088"/>
            <a:chOff x="0" y="0"/>
            <a:chExt cx="54272" cy="56678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27178"/>
              <a:ext cx="54229" cy="512445"/>
            </a:xfrm>
            <a:custGeom>
              <a:avLst/>
              <a:gdLst/>
              <a:ahLst/>
              <a:cxnLst/>
              <a:rect r="r" b="b" t="t" l="l"/>
              <a:pathLst>
                <a:path h="512445" w="54229">
                  <a:moveTo>
                    <a:pt x="54229" y="0"/>
                  </a:moveTo>
                  <a:lnTo>
                    <a:pt x="54229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5F5F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2538522" y="409251"/>
            <a:ext cx="4676557" cy="494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47"/>
              </a:lnSpc>
            </a:pPr>
            <a:r>
              <a:rPr lang="en-US" sz="30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Risultati e sviluppi futuri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41194" y="2856511"/>
            <a:ext cx="3445446" cy="1225023"/>
            <a:chOff x="0" y="0"/>
            <a:chExt cx="4593927" cy="1633364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293291" y="-238125"/>
              <a:ext cx="4007346" cy="6738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641"/>
                </a:lnSpc>
              </a:pPr>
              <a:r>
                <a:rPr lang="en-US" sz="2199">
                  <a:solidFill>
                    <a:srgbClr val="00000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Metriche </a:t>
              </a:r>
              <a:r>
                <a:rPr lang="en-US" b="true" sz="2199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modello iniziale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580746"/>
              <a:ext cx="4593927" cy="10526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474979" indent="-237490" lvl="1">
                <a:lnSpc>
                  <a:spcPts val="3079"/>
                </a:lnSpc>
                <a:buFont typeface="Arial"/>
                <a:buChar char="•"/>
              </a:pPr>
              <a:r>
                <a:rPr lang="en-US" sz="2199">
                  <a:solidFill>
                    <a:srgbClr val="00000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T</a:t>
              </a:r>
              <a:r>
                <a:rPr lang="en-US" sz="2199">
                  <a:solidFill>
                    <a:srgbClr val="00000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op-1 Accuracy: 37.57 %</a:t>
              </a:r>
            </a:p>
            <a:p>
              <a:pPr algn="ctr" marL="474979" indent="-237490" lvl="1">
                <a:lnSpc>
                  <a:spcPts val="3079"/>
                </a:lnSpc>
                <a:buFont typeface="Arial"/>
                <a:buChar char="•"/>
              </a:pPr>
              <a:r>
                <a:rPr lang="en-US" sz="2199">
                  <a:solidFill>
                    <a:srgbClr val="00000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Top-5 Accuracy: 41.33 %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5273184" y="2856511"/>
            <a:ext cx="3554016" cy="1225023"/>
            <a:chOff x="0" y="0"/>
            <a:chExt cx="4738688" cy="1633364"/>
          </a:xfrm>
        </p:grpSpPr>
        <p:sp>
          <p:nvSpPr>
            <p:cNvPr name="TextBox 19" id="19"/>
            <p:cNvSpPr txBox="true"/>
            <p:nvPr/>
          </p:nvSpPr>
          <p:spPr>
            <a:xfrm rot="0">
              <a:off x="166291" y="-238125"/>
              <a:ext cx="4572397" cy="6738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641"/>
                </a:lnSpc>
              </a:pPr>
              <a:r>
                <a:rPr lang="en-US" sz="2199">
                  <a:solidFill>
                    <a:srgbClr val="00000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Metriche </a:t>
              </a:r>
              <a:r>
                <a:rPr lang="en-US" b="true" sz="2199">
                  <a:solidFill>
                    <a:srgbClr val="00000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modello addestrato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0" y="580746"/>
              <a:ext cx="4593927" cy="10526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474979" indent="-237490" lvl="1">
                <a:lnSpc>
                  <a:spcPts val="3079"/>
                </a:lnSpc>
                <a:buFont typeface="Arial"/>
                <a:buChar char="•"/>
              </a:pPr>
              <a:r>
                <a:rPr lang="en-US" sz="2199">
                  <a:solidFill>
                    <a:srgbClr val="00000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T</a:t>
              </a:r>
              <a:r>
                <a:rPr lang="en-US" sz="2199">
                  <a:solidFill>
                    <a:srgbClr val="00000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op-1 Accuracy: 70.35 %</a:t>
              </a:r>
            </a:p>
            <a:p>
              <a:pPr algn="ctr" marL="474979" indent="-237490" lvl="1">
                <a:lnSpc>
                  <a:spcPts val="3079"/>
                </a:lnSpc>
                <a:buFont typeface="Arial"/>
                <a:buChar char="•"/>
              </a:pPr>
              <a:r>
                <a:rPr lang="en-US" sz="2199">
                  <a:solidFill>
                    <a:srgbClr val="00000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Top-5 Accuracy: 77.96 %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02903" y="1713145"/>
            <a:ext cx="8100657" cy="725170"/>
            <a:chOff x="0" y="0"/>
            <a:chExt cx="10800876" cy="966893"/>
          </a:xfrm>
        </p:grpSpPr>
        <p:sp>
          <p:nvSpPr>
            <p:cNvPr name="TextBox 22" id="22"/>
            <p:cNvSpPr txBox="true"/>
            <p:nvPr/>
          </p:nvSpPr>
          <p:spPr>
            <a:xfrm rot="0">
              <a:off x="0" y="-85725"/>
              <a:ext cx="5298529" cy="10526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74979" indent="-237490" lvl="1">
                <a:lnSpc>
                  <a:spcPts val="3079"/>
                </a:lnSpc>
                <a:buFont typeface="Arial"/>
                <a:buChar char="•"/>
              </a:pPr>
              <a:r>
                <a:rPr lang="en-US" sz="2199">
                  <a:solidFill>
                    <a:srgbClr val="00000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Round di addestramento: 50</a:t>
              </a:r>
            </a:p>
            <a:p>
              <a:pPr algn="l" marL="474979" indent="-237490" lvl="1">
                <a:lnSpc>
                  <a:spcPts val="3079"/>
                </a:lnSpc>
                <a:buFont typeface="Arial"/>
                <a:buChar char="•"/>
              </a:pPr>
              <a:r>
                <a:rPr lang="en-US" sz="2199">
                  <a:solidFill>
                    <a:srgbClr val="00000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Supernodi: 5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5502347" y="-85725"/>
              <a:ext cx="5298529" cy="10526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74979" indent="-237490" lvl="1">
                <a:lnSpc>
                  <a:spcPts val="307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199">
                  <a:solidFill>
                    <a:srgbClr val="00000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F</a:t>
              </a:r>
              <a:r>
                <a:rPr lang="en-US" sz="2199">
                  <a:solidFill>
                    <a:srgbClr val="00000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raction fit: 0.7</a:t>
              </a:r>
            </a:p>
            <a:p>
              <a:pPr algn="l" marL="474979" indent="-237490" lvl="1">
                <a:lnSpc>
                  <a:spcPts val="307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199">
                  <a:solidFill>
                    <a:srgbClr val="00000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Epoche locali: 1</a:t>
              </a:r>
            </a:p>
          </p:txBody>
        </p:sp>
      </p:grpSp>
      <p:sp>
        <p:nvSpPr>
          <p:cNvPr name="AutoShape 24" id="24"/>
          <p:cNvSpPr/>
          <p:nvPr/>
        </p:nvSpPr>
        <p:spPr>
          <a:xfrm>
            <a:off x="4600575" y="3478548"/>
            <a:ext cx="291609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25" id="25"/>
          <p:cNvSpPr txBox="true"/>
          <p:nvPr/>
        </p:nvSpPr>
        <p:spPr>
          <a:xfrm rot="0">
            <a:off x="902903" y="4338709"/>
            <a:ext cx="7989001" cy="198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 b="true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Sviluppi futuri</a:t>
            </a:r>
            <a:r>
              <a:rPr lang="en-US" sz="21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:</a:t>
            </a:r>
          </a:p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Simulazione con hardware più potente</a:t>
            </a:r>
          </a:p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Sperimentazione con algoritmi di aggregazione e di sicurezza più complessi</a:t>
            </a:r>
          </a:p>
          <a:p>
            <a:pPr algn="l" marL="474979" indent="-237490" lvl="1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Ottimizzazione del modello per l’esecuzione su dispositivi edge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263440" y="6986643"/>
            <a:ext cx="88925" cy="230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12"/>
              </a:lnSpc>
              <a:spcBef>
                <a:spcPct val="0"/>
              </a:spcBef>
            </a:pPr>
            <a:r>
              <a:rPr lang="en-US" sz="14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8</a:t>
            </a:r>
          </a:p>
        </p:txBody>
      </p:sp>
    </p:spTree>
  </p:cSld>
  <p:clrMapOvr>
    <a:masterClrMapping/>
  </p:clrMapOvr>
  <p:transition spd="fast">
    <p:fade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6885120"/>
            <a:ext cx="9753600" cy="428544"/>
            <a:chOff x="0" y="0"/>
            <a:chExt cx="13004800" cy="571392"/>
          </a:xfrm>
        </p:grpSpPr>
        <p:sp>
          <p:nvSpPr>
            <p:cNvPr name="Freeform 3" id="3" descr="BANDA ROSSA 2 OPT BOLOGNA RAST"/>
            <p:cNvSpPr/>
            <p:nvPr/>
          </p:nvSpPr>
          <p:spPr>
            <a:xfrm flipH="false" flipV="false" rot="0">
              <a:off x="0" y="0"/>
              <a:ext cx="13004800" cy="571373"/>
            </a:xfrm>
            <a:custGeom>
              <a:avLst/>
              <a:gdLst/>
              <a:ahLst/>
              <a:cxnLst/>
              <a:rect r="r" b="b" t="t" l="l"/>
              <a:pathLst>
                <a:path h="571373" w="13004800">
                  <a:moveTo>
                    <a:pt x="0" y="0"/>
                  </a:moveTo>
                  <a:lnTo>
                    <a:pt x="13004800" y="0"/>
                  </a:lnTo>
                  <a:lnTo>
                    <a:pt x="13004800" y="571373"/>
                  </a:lnTo>
                  <a:lnTo>
                    <a:pt x="0" y="5713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75" r="0" b="-178"/>
              </a:stretch>
            </a:blip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76032" y="110208"/>
            <a:ext cx="902784" cy="1159680"/>
            <a:chOff x="0" y="0"/>
            <a:chExt cx="1203712" cy="1546240"/>
          </a:xfrm>
        </p:grpSpPr>
        <p:sp>
          <p:nvSpPr>
            <p:cNvPr name="Freeform 5" id="5" descr="Alma-Mater TAGLIATO"/>
            <p:cNvSpPr/>
            <p:nvPr/>
          </p:nvSpPr>
          <p:spPr>
            <a:xfrm flipH="false" flipV="false" rot="0">
              <a:off x="0" y="0"/>
              <a:ext cx="1203706" cy="1546225"/>
            </a:xfrm>
            <a:custGeom>
              <a:avLst/>
              <a:gdLst/>
              <a:ahLst/>
              <a:cxnLst/>
              <a:rect r="r" b="b" t="t" l="l"/>
              <a:pathLst>
                <a:path h="1546225" w="1203706">
                  <a:moveTo>
                    <a:pt x="0" y="0"/>
                  </a:moveTo>
                  <a:lnTo>
                    <a:pt x="1203706" y="0"/>
                  </a:lnTo>
                  <a:lnTo>
                    <a:pt x="1203706" y="1546225"/>
                  </a:lnTo>
                  <a:lnTo>
                    <a:pt x="0" y="15462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9" t="0" r="-1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-3456" y="-91392"/>
            <a:ext cx="184704" cy="1446144"/>
            <a:chOff x="0" y="0"/>
            <a:chExt cx="246272" cy="192819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121666"/>
              <a:ext cx="246253" cy="1684909"/>
            </a:xfrm>
            <a:custGeom>
              <a:avLst/>
              <a:gdLst/>
              <a:ahLst/>
              <a:cxnLst/>
              <a:rect r="r" b="b" t="t" l="l"/>
              <a:pathLst>
                <a:path h="1684909" w="246253">
                  <a:moveTo>
                    <a:pt x="243713" y="0"/>
                  </a:moveTo>
                  <a:lnTo>
                    <a:pt x="246253" y="1684528"/>
                  </a:lnTo>
                  <a:lnTo>
                    <a:pt x="2540" y="1684909"/>
                  </a:lnTo>
                  <a:lnTo>
                    <a:pt x="0" y="381"/>
                  </a:lnTo>
                  <a:close/>
                </a:path>
              </a:pathLst>
            </a:custGeom>
            <a:solidFill>
              <a:srgbClr val="CC0000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-10176" y="1251264"/>
            <a:ext cx="8837376" cy="22272"/>
            <a:chOff x="0" y="0"/>
            <a:chExt cx="11783168" cy="296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3589" y="0"/>
              <a:ext cx="11756009" cy="29718"/>
            </a:xfrm>
            <a:custGeom>
              <a:avLst/>
              <a:gdLst/>
              <a:ahLst/>
              <a:cxnLst/>
              <a:rect r="r" b="b" t="t" l="l"/>
              <a:pathLst>
                <a:path h="29718" w="11756009">
                  <a:moveTo>
                    <a:pt x="0" y="0"/>
                  </a:moveTo>
                  <a:lnTo>
                    <a:pt x="11756009" y="2540"/>
                  </a:lnTo>
                  <a:lnTo>
                    <a:pt x="11756009" y="29718"/>
                  </a:lnTo>
                  <a:lnTo>
                    <a:pt x="0" y="27178"/>
                  </a:lnTo>
                  <a:close/>
                </a:path>
              </a:pathLst>
            </a:custGeom>
            <a:solidFill>
              <a:srgbClr val="5F5F5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851200" y="6832512"/>
            <a:ext cx="40704" cy="416640"/>
            <a:chOff x="0" y="0"/>
            <a:chExt cx="54272" cy="5555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27178"/>
              <a:ext cx="54229" cy="501269"/>
            </a:xfrm>
            <a:custGeom>
              <a:avLst/>
              <a:gdLst/>
              <a:ahLst/>
              <a:cxnLst/>
              <a:rect r="r" b="b" t="t" l="l"/>
              <a:pathLst>
                <a:path h="501269" w="54229">
                  <a:moveTo>
                    <a:pt x="54229" y="0"/>
                  </a:moveTo>
                  <a:lnTo>
                    <a:pt x="54229" y="501269"/>
                  </a:lnTo>
                  <a:lnTo>
                    <a:pt x="0" y="5012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851200" y="6478848"/>
            <a:ext cx="40704" cy="425088"/>
            <a:chOff x="0" y="0"/>
            <a:chExt cx="54272" cy="56678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27178"/>
              <a:ext cx="54229" cy="512445"/>
            </a:xfrm>
            <a:custGeom>
              <a:avLst/>
              <a:gdLst/>
              <a:ahLst/>
              <a:cxnLst/>
              <a:rect r="r" b="b" t="t" l="l"/>
              <a:pathLst>
                <a:path h="512445" w="54229">
                  <a:moveTo>
                    <a:pt x="54229" y="0"/>
                  </a:moveTo>
                  <a:lnTo>
                    <a:pt x="54229" y="512445"/>
                  </a:lnTo>
                  <a:lnTo>
                    <a:pt x="0" y="5124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5F5F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2007239" y="2626868"/>
            <a:ext cx="5739122" cy="1880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39"/>
              </a:lnSpc>
              <a:spcBef>
                <a:spcPct val="0"/>
              </a:spcBef>
            </a:pPr>
            <a:r>
              <a:rPr lang="en-US" sz="50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Grazie per l’attenzione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760247" y="241738"/>
            <a:ext cx="5066953" cy="810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079"/>
              </a:lnSpc>
            </a:pPr>
            <a:r>
              <a:rPr lang="en-US" sz="21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Università di Bologna</a:t>
            </a:r>
          </a:p>
          <a:p>
            <a:pPr algn="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Corso di Laurea in Ingegneria Informatica</a:t>
            </a:r>
          </a:p>
        </p:txBody>
      </p: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DAG0vm1zgmE</dc:identifier>
  <dcterms:modified xsi:type="dcterms:W3CDTF">2011-08-01T06:04:30Z</dcterms:modified>
  <cp:revision>1</cp:revision>
  <dc:title>Slides presentazione Tesi.ppt</dc:title>
</cp:coreProperties>
</file>